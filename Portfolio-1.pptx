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0"/>
  </p:notesMasterIdLst>
  <p:sldIdLst>
    <p:sldId id="256" r:id="rId2"/>
    <p:sldId id="266" r:id="rId3"/>
    <p:sldId id="263" r:id="rId4"/>
    <p:sldId id="257" r:id="rId5"/>
    <p:sldId id="267" r:id="rId6"/>
    <p:sldId id="261" r:id="rId7"/>
    <p:sldId id="262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92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Materi%20Data%20Entry\Dashboard%20analysis.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Materi%20Data%20Entry\Dashboard%20analysis.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Materi%20Data%20Entry\Dashboard%20analysis.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Materi%20Data%20Entry\Dashboard%20analysis.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Materi%20Data%20Entry\Dashboard%20analysis.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 analysis.1.xlsx]Sheet2!PivotTable5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ID" sz="1200" dirty="0"/>
              <a:t>Member vs Non-Member Sales Performance in Each Branch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Sheet2!$B$25:$B$26</c:f>
              <c:strCache>
                <c:ptCount val="1"/>
                <c:pt idx="0">
                  <c:v>Non-member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[$$-409]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Sheet2!$A$27:$A$29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Sheet2!$B$27:$B$29</c:f>
              <c:numCache>
                <c:formatCode>[$$-409]#,##0</c:formatCode>
                <c:ptCount val="3"/>
                <c:pt idx="0">
                  <c:v>28022.588150289012</c:v>
                </c:pt>
                <c:pt idx="1">
                  <c:v>29760.162574850303</c:v>
                </c:pt>
                <c:pt idx="2">
                  <c:v>30747.975471698104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29-4B71-8C0C-4FF98DBF83F9}"/>
            </c:ext>
          </c:extLst>
        </c:ser>
        <c:ser>
          <c:idx val="1"/>
          <c:order val="1"/>
          <c:tx>
            <c:strRef>
              <c:f>Sheet2!$C$25:$C$26</c:f>
              <c:strCache>
                <c:ptCount val="1"/>
                <c:pt idx="0">
                  <c:v>Member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[$$-409]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Sheet2!$A$27:$A$29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Sheet2!$C$27:$C$29</c:f>
              <c:numCache>
                <c:formatCode>[$$-409]#,##0</c:formatCode>
                <c:ptCount val="3"/>
                <c:pt idx="0">
                  <c:v>29548.188323353283</c:v>
                </c:pt>
                <c:pt idx="1">
                  <c:v>28740.803636363635</c:v>
                </c:pt>
                <c:pt idx="2">
                  <c:v>28644.813905325438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29-4B71-8C0C-4FF98DBF83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1659994832"/>
        <c:axId val="1659992912"/>
      </c:barChart>
      <c:catAx>
        <c:axId val="1659994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9992912"/>
        <c:crosses val="autoZero"/>
        <c:auto val="1"/>
        <c:lblAlgn val="ctr"/>
        <c:lblOffset val="100"/>
        <c:noMultiLvlLbl val="0"/>
      </c:catAx>
      <c:valAx>
        <c:axId val="1659992912"/>
        <c:scaling>
          <c:orientation val="minMax"/>
        </c:scaling>
        <c:delete val="1"/>
        <c:axPos val="l"/>
        <c:numFmt formatCode="[$$-409]#,##0" sourceLinked="1"/>
        <c:majorTickMark val="none"/>
        <c:minorTickMark val="none"/>
        <c:tickLblPos val="nextTo"/>
        <c:crossAx val="1659994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15875" cap="rnd" cmpd="sng" algn="ctr">
      <a:noFill/>
      <a:prstDash val="solid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[Dashboard analysis.1.xlsx]Sheet2!PivotTable2</c:name>
    <c:fmtId val="3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ID" dirty="0"/>
              <a:t>Total Sales Product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>
              <a:shade val="50000"/>
            </a:schemeClr>
          </a:solidFill>
          <a:ln>
            <a:noFill/>
          </a:ln>
          <a:effectLst/>
        </c:spPr>
      </c:pivotFmt>
      <c:pivotFmt>
        <c:idx val="9"/>
        <c:spPr>
          <a:solidFill>
            <a:schemeClr val="accent1">
              <a:tint val="70000"/>
            </a:schemeClr>
          </a:solidFill>
          <a:ln>
            <a:noFill/>
          </a:ln>
          <a:effectLst/>
        </c:spPr>
      </c:pivotFmt>
      <c:pivotFmt>
        <c:idx val="10"/>
        <c:spPr>
          <a:solidFill>
            <a:schemeClr val="accent1">
              <a:tint val="50000"/>
            </a:schemeClr>
          </a:solidFill>
          <a:ln>
            <a:noFill/>
          </a:ln>
          <a:effectLst/>
        </c:spPr>
      </c:pivotFmt>
      <c:pivotFmt>
        <c:idx val="11"/>
        <c:spPr>
          <a:solidFill>
            <a:schemeClr val="accent1">
              <a:shade val="90000"/>
            </a:schemeClr>
          </a:solidFill>
          <a:ln>
            <a:noFill/>
          </a:ln>
          <a:effectLst/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>
              <a:tint val="50000"/>
            </a:schemeClr>
          </a:solidFill>
          <a:ln>
            <a:noFill/>
          </a:ln>
          <a:effectLst/>
        </c:spPr>
      </c:pivotFmt>
      <c:pivotFmt>
        <c:idx val="19"/>
        <c:spPr>
          <a:solidFill>
            <a:schemeClr val="accent1">
              <a:tint val="70000"/>
            </a:schemeClr>
          </a:solidFill>
          <a:ln>
            <a:noFill/>
          </a:ln>
          <a:effectLst/>
        </c:spPr>
      </c:pivotFmt>
      <c:pivotFmt>
        <c:idx val="20"/>
        <c:spPr>
          <a:solidFill>
            <a:schemeClr val="accent1">
              <a:tint val="90000"/>
            </a:schemeClr>
          </a:solidFill>
          <a:ln>
            <a:noFill/>
          </a:ln>
          <a:effectLst/>
        </c:spPr>
      </c:pivotFmt>
      <c:pivotFmt>
        <c:idx val="21"/>
        <c:spPr>
          <a:solidFill>
            <a:schemeClr val="accent1">
              <a:shade val="90000"/>
            </a:schemeClr>
          </a:solidFill>
          <a:ln>
            <a:noFill/>
          </a:ln>
          <a:effectLst/>
        </c:spPr>
      </c:pivotFmt>
      <c:pivotFmt>
        <c:idx val="22"/>
        <c:spPr>
          <a:solidFill>
            <a:schemeClr val="accent1">
              <a:shade val="70000"/>
            </a:schemeClr>
          </a:solidFill>
          <a:ln>
            <a:noFill/>
          </a:ln>
          <a:effectLst/>
        </c:spPr>
      </c:pivotFmt>
      <c:pivotFmt>
        <c:idx val="23"/>
        <c:spPr>
          <a:solidFill>
            <a:schemeClr val="accent1">
              <a:shade val="50000"/>
            </a:schemeClr>
          </a:solidFill>
          <a:ln>
            <a:noFill/>
          </a:ln>
          <a:effectLst/>
        </c:spPr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>
              <a:tint val="50000"/>
            </a:schemeClr>
          </a:solidFill>
          <a:ln>
            <a:noFill/>
          </a:ln>
          <a:effectLst/>
        </c:spPr>
      </c:pivotFmt>
      <c:pivotFmt>
        <c:idx val="26"/>
        <c:spPr>
          <a:solidFill>
            <a:schemeClr val="accent1">
              <a:tint val="70000"/>
            </a:schemeClr>
          </a:solidFill>
          <a:ln>
            <a:noFill/>
          </a:ln>
          <a:effectLst/>
        </c:spPr>
      </c:pivotFmt>
      <c:pivotFmt>
        <c:idx val="27"/>
        <c:spPr>
          <a:solidFill>
            <a:schemeClr val="accent1">
              <a:tint val="90000"/>
            </a:schemeClr>
          </a:solidFill>
          <a:ln>
            <a:noFill/>
          </a:ln>
          <a:effectLst/>
        </c:spPr>
      </c:pivotFmt>
      <c:pivotFmt>
        <c:idx val="28"/>
        <c:spPr>
          <a:solidFill>
            <a:schemeClr val="accent1">
              <a:shade val="90000"/>
            </a:schemeClr>
          </a:solidFill>
          <a:ln>
            <a:noFill/>
          </a:ln>
          <a:effectLst/>
        </c:spPr>
      </c:pivotFmt>
      <c:pivotFmt>
        <c:idx val="29"/>
        <c:spPr>
          <a:solidFill>
            <a:schemeClr val="accent1">
              <a:shade val="70000"/>
            </a:schemeClr>
          </a:solidFill>
          <a:ln>
            <a:noFill/>
          </a:ln>
          <a:effectLst/>
        </c:spPr>
      </c:pivotFmt>
      <c:pivotFmt>
        <c:idx val="30"/>
        <c:spPr>
          <a:solidFill>
            <a:schemeClr val="accent1">
              <a:shade val="50000"/>
            </a:schemeClr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Sheet2!$B$15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>
                  <a:tint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3C5-4A03-A21B-3CADD2C95D30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tint val="7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3C5-4A03-A21B-3CADD2C95D30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tint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3C5-4A03-A21B-3CADD2C95D30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>
                  <a:shade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3C5-4A03-A21B-3CADD2C95D30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>
                  <a:shade val="7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3C5-4A03-A21B-3CADD2C95D30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>
                  <a:shade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3C5-4A03-A21B-3CADD2C95D30}"/>
              </c:ext>
            </c:extLst>
          </c:dPt>
          <c:dLbls>
            <c:numFmt formatCode="[$$-409]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Sheet2!$A$16:$A$22</c:f>
              <c:strCache>
                <c:ptCount val="6"/>
                <c:pt idx="0">
                  <c:v>Health and beauty</c:v>
                </c:pt>
                <c:pt idx="1">
                  <c:v>Food and beverages</c:v>
                </c:pt>
                <c:pt idx="2">
                  <c:v>Home and lifestyle</c:v>
                </c:pt>
                <c:pt idx="3">
                  <c:v>Fashion accessories</c:v>
                </c:pt>
                <c:pt idx="4">
                  <c:v>Sports and travel</c:v>
                </c:pt>
                <c:pt idx="5">
                  <c:v>Electronic accessories</c:v>
                </c:pt>
              </c:strCache>
            </c:strRef>
          </c:cat>
          <c:val>
            <c:numRef>
              <c:f>Sheet2!$B$16:$B$22</c:f>
              <c:numCache>
                <c:formatCode>[$$-409]#,##0</c:formatCode>
                <c:ptCount val="6"/>
                <c:pt idx="0">
                  <c:v>4281555.5999999978</c:v>
                </c:pt>
                <c:pt idx="1">
                  <c:v>4766016.1500000004</c:v>
                </c:pt>
                <c:pt idx="2">
                  <c:v>4990689.8999999985</c:v>
                </c:pt>
                <c:pt idx="3">
                  <c:v>5037941.9999999991</c:v>
                </c:pt>
                <c:pt idx="4">
                  <c:v>5056830.450000002</c:v>
                </c:pt>
                <c:pt idx="5">
                  <c:v>5091502.5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3C5-4A03-A21B-3CADD2C95D3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582883472"/>
        <c:axId val="582876272"/>
      </c:barChart>
      <c:catAx>
        <c:axId val="582883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2876272"/>
        <c:crosses val="autoZero"/>
        <c:auto val="1"/>
        <c:lblAlgn val="ctr"/>
        <c:lblOffset val="100"/>
        <c:noMultiLvlLbl val="0"/>
      </c:catAx>
      <c:valAx>
        <c:axId val="582876272"/>
        <c:scaling>
          <c:orientation val="minMax"/>
        </c:scaling>
        <c:delete val="1"/>
        <c:axPos val="l"/>
        <c:numFmt formatCode="[$$-409]#,##0" sourceLinked="0"/>
        <c:majorTickMark val="out"/>
        <c:minorTickMark val="none"/>
        <c:tickLblPos val="nextTo"/>
        <c:crossAx val="582883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15875" cap="rnd" cmpd="sng" algn="ctr">
      <a:noFill/>
      <a:prstDash val="solid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 analysis.1.xlsx]Analysis!PivotTable1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1400" b="0"/>
              <a:t>Sales Contribution per Branch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tint val="96000"/>
                  <a:lumMod val="104000"/>
                </a:schemeClr>
              </a:gs>
              <a:gs pos="100000">
                <a:schemeClr val="accent2">
                  <a:shade val="90000"/>
                  <a:lumMod val="90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</c:marke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2">
                  <a:tint val="96000"/>
                  <a:lumMod val="104000"/>
                </a:schemeClr>
              </a:gs>
              <a:gs pos="100000">
                <a:schemeClr val="accent2">
                  <a:shade val="90000"/>
                  <a:lumMod val="90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2">
                  <a:tint val="96000"/>
                  <a:lumMod val="104000"/>
                </a:schemeClr>
              </a:gs>
              <a:gs pos="100000">
                <a:schemeClr val="accent2">
                  <a:shade val="90000"/>
                  <a:lumMod val="90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3"/>
        <c:spPr>
          <a:gradFill rotWithShape="1">
            <a:gsLst>
              <a:gs pos="0">
                <a:schemeClr val="accent2">
                  <a:tint val="96000"/>
                  <a:lumMod val="104000"/>
                </a:schemeClr>
              </a:gs>
              <a:gs pos="100000">
                <a:schemeClr val="accent2">
                  <a:shade val="90000"/>
                  <a:lumMod val="90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4"/>
        <c:spPr>
          <a:gradFill rotWithShape="1">
            <a:gsLst>
              <a:gs pos="0">
                <a:schemeClr val="accent2">
                  <a:tint val="96000"/>
                  <a:lumMod val="104000"/>
                </a:schemeClr>
              </a:gs>
              <a:gs pos="100000">
                <a:schemeClr val="accent2">
                  <a:shade val="90000"/>
                  <a:lumMod val="90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5"/>
        <c:spPr>
          <a:gradFill rotWithShape="1">
            <a:gsLst>
              <a:gs pos="0">
                <a:schemeClr val="accent2">
                  <a:tint val="96000"/>
                  <a:lumMod val="104000"/>
                </a:schemeClr>
              </a:gs>
              <a:gs pos="100000">
                <a:schemeClr val="accent2">
                  <a:shade val="90000"/>
                  <a:lumMod val="90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2">
                  <a:tint val="96000"/>
                  <a:lumMod val="104000"/>
                </a:schemeClr>
              </a:gs>
              <a:gs pos="100000">
                <a:schemeClr val="accent2">
                  <a:shade val="90000"/>
                  <a:lumMod val="90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7"/>
        <c:spPr>
          <a:gradFill rotWithShape="1">
            <a:gsLst>
              <a:gs pos="0">
                <a:schemeClr val="accent2">
                  <a:tint val="96000"/>
                  <a:lumMod val="104000"/>
                </a:schemeClr>
              </a:gs>
              <a:gs pos="100000">
                <a:schemeClr val="accent2">
                  <a:shade val="90000"/>
                  <a:lumMod val="90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8"/>
        <c:spPr>
          <a:gradFill rotWithShape="1">
            <a:gsLst>
              <a:gs pos="0">
                <a:schemeClr val="accent2">
                  <a:tint val="96000"/>
                  <a:lumMod val="104000"/>
                </a:schemeClr>
              </a:gs>
              <a:gs pos="100000">
                <a:schemeClr val="accent2">
                  <a:shade val="90000"/>
                  <a:lumMod val="90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9"/>
        <c:spPr>
          <a:gradFill rotWithShape="1">
            <a:gsLst>
              <a:gs pos="0">
                <a:schemeClr val="accent2">
                  <a:tint val="96000"/>
                  <a:lumMod val="104000"/>
                </a:schemeClr>
              </a:gs>
              <a:gs pos="100000">
                <a:schemeClr val="accent2">
                  <a:shade val="90000"/>
                  <a:lumMod val="90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2">
                  <a:tint val="96000"/>
                  <a:lumMod val="104000"/>
                </a:schemeClr>
              </a:gs>
              <a:gs pos="100000">
                <a:schemeClr val="accent2">
                  <a:shade val="90000"/>
                  <a:lumMod val="90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1"/>
        <c:spPr>
          <a:gradFill rotWithShape="1">
            <a:gsLst>
              <a:gs pos="0">
                <a:schemeClr val="accent2">
                  <a:tint val="96000"/>
                  <a:lumMod val="104000"/>
                </a:schemeClr>
              </a:gs>
              <a:gs pos="100000">
                <a:schemeClr val="accent2">
                  <a:shade val="90000"/>
                  <a:lumMod val="90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2"/>
        <c:spPr>
          <a:gradFill rotWithShape="1">
            <a:gsLst>
              <a:gs pos="0">
                <a:schemeClr val="accent2">
                  <a:tint val="96000"/>
                  <a:lumMod val="104000"/>
                </a:schemeClr>
              </a:gs>
              <a:gs pos="100000">
                <a:schemeClr val="accent2">
                  <a:shade val="90000"/>
                  <a:lumMod val="90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3"/>
        <c:spPr>
          <a:gradFill rotWithShape="1">
            <a:gsLst>
              <a:gs pos="0">
                <a:schemeClr val="accent2">
                  <a:tint val="96000"/>
                  <a:lumMod val="104000"/>
                </a:schemeClr>
              </a:gs>
              <a:gs pos="100000">
                <a:schemeClr val="accent2">
                  <a:shade val="90000"/>
                  <a:lumMod val="90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numFmt formatCode="0.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2">
                  <a:tint val="96000"/>
                  <a:lumMod val="104000"/>
                </a:schemeClr>
              </a:gs>
              <a:gs pos="100000">
                <a:schemeClr val="accent2">
                  <a:shade val="90000"/>
                  <a:lumMod val="90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5"/>
        <c:spPr>
          <a:gradFill rotWithShape="1">
            <a:gsLst>
              <a:gs pos="0">
                <a:schemeClr val="accent2">
                  <a:tint val="96000"/>
                  <a:lumMod val="104000"/>
                </a:schemeClr>
              </a:gs>
              <a:gs pos="100000">
                <a:schemeClr val="accent2">
                  <a:shade val="90000"/>
                  <a:lumMod val="90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6"/>
        <c:spPr>
          <a:gradFill rotWithShape="1">
            <a:gsLst>
              <a:gs pos="0">
                <a:schemeClr val="accent2">
                  <a:tint val="96000"/>
                  <a:lumMod val="104000"/>
                </a:schemeClr>
              </a:gs>
              <a:gs pos="100000">
                <a:schemeClr val="accent2">
                  <a:shade val="90000"/>
                  <a:lumMod val="90000"/>
                </a:schemeClr>
              </a:gs>
            </a:gsLst>
            <a:lin ang="5400000" scaled="0"/>
          </a:gradFill>
          <a:ln>
            <a:noFill/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Analysis!$B$50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tint val="96000"/>
                      <a:lumMod val="104000"/>
                    </a:schemeClr>
                  </a:gs>
                  <a:gs pos="100000">
                    <a:schemeClr val="accent2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9DB-4C74-A21F-ED623694B1C5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tint val="96000"/>
                      <a:lumMod val="104000"/>
                    </a:schemeClr>
                  </a:gs>
                  <a:gs pos="100000">
                    <a:schemeClr val="accent4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9DB-4C74-A21F-ED623694B1C5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tint val="96000"/>
                      <a:lumMod val="104000"/>
                    </a:schemeClr>
                  </a:gs>
                  <a:gs pos="100000">
                    <a:schemeClr val="accent6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9DB-4C74-A21F-ED623694B1C5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Analysis!$A$51:$A$54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Analysis!$B$51:$B$54</c:f>
              <c:numCache>
                <c:formatCode>[$$-409]#,##0</c:formatCode>
                <c:ptCount val="3"/>
                <c:pt idx="0">
                  <c:v>9782455.200000003</c:v>
                </c:pt>
                <c:pt idx="1">
                  <c:v>9712179.7500000037</c:v>
                </c:pt>
                <c:pt idx="2">
                  <c:v>9729901.6500000078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9DB-4C74-A21F-ED623694B1C5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15875" cap="rnd" cmpd="sng" algn="ctr">
      <a:noFill/>
      <a:prstDash val="solid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Product Sales Contribution per Branch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v>Branch A</c:v>
          </c:tx>
          <c:spPr>
            <a:solidFill>
              <a:srgbClr val="ED7D31"/>
            </a:solidFill>
            <a:ln>
              <a:noFill/>
            </a:ln>
            <a:effectLst/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Analysis!$G$72:$G$77</c:f>
              <c:strCache>
                <c:ptCount val="6"/>
                <c:pt idx="0">
                  <c:v>Health and beauty</c:v>
                </c:pt>
                <c:pt idx="1">
                  <c:v>Food and beverages</c:v>
                </c:pt>
                <c:pt idx="2">
                  <c:v>Home and lifestyle</c:v>
                </c:pt>
                <c:pt idx="3">
                  <c:v>Fashion accessories</c:v>
                </c:pt>
                <c:pt idx="4">
                  <c:v>Sports and travel</c:v>
                </c:pt>
                <c:pt idx="5">
                  <c:v>Electronic accessories</c:v>
                </c:pt>
              </c:strCache>
            </c:strRef>
          </c:cat>
          <c:val>
            <c:numRef>
              <c:f>Analysis!$H$72:$H$77</c:f>
              <c:numCache>
                <c:formatCode>0%</c:formatCode>
                <c:ptCount val="6"/>
                <c:pt idx="0">
                  <c:v>0.11257607906039785</c:v>
                </c:pt>
                <c:pt idx="1">
                  <c:v>0.16449027029533445</c:v>
                </c:pt>
                <c:pt idx="2">
                  <c:v>0.2201654805431667</c:v>
                </c:pt>
                <c:pt idx="3">
                  <c:v>0.14884436680067803</c:v>
                </c:pt>
                <c:pt idx="4">
                  <c:v>0.18006533267844663</c:v>
                </c:pt>
                <c:pt idx="5">
                  <c:v>0.17385847062197635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9BC0-43F6-BE73-34674E73F0AE}"/>
            </c:ext>
          </c:extLst>
        </c:ser>
        <c:ser>
          <c:idx val="1"/>
          <c:order val="1"/>
          <c:tx>
            <c:v>Branch B</c:v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Analysis!$G$72:$G$77</c:f>
              <c:strCache>
                <c:ptCount val="6"/>
                <c:pt idx="0">
                  <c:v>Health and beauty</c:v>
                </c:pt>
                <c:pt idx="1">
                  <c:v>Food and beverages</c:v>
                </c:pt>
                <c:pt idx="2">
                  <c:v>Home and lifestyle</c:v>
                </c:pt>
                <c:pt idx="3">
                  <c:v>Fashion accessories</c:v>
                </c:pt>
                <c:pt idx="4">
                  <c:v>Sports and travel</c:v>
                </c:pt>
                <c:pt idx="5">
                  <c:v>Electronic accessories</c:v>
                </c:pt>
              </c:strCache>
            </c:strRef>
          </c:cat>
          <c:val>
            <c:numRef>
              <c:f>Analysis!$I$72:$I$77</c:f>
              <c:numCache>
                <c:formatCode>0%</c:formatCode>
                <c:ptCount val="6"/>
                <c:pt idx="0">
                  <c:v>0.19134782282010379</c:v>
                </c:pt>
                <c:pt idx="1">
                  <c:v>0.12481719667513362</c:v>
                </c:pt>
                <c:pt idx="2">
                  <c:v>0.16732811189990587</c:v>
                </c:pt>
                <c:pt idx="3">
                  <c:v>0.16683133876306189</c:v>
                </c:pt>
                <c:pt idx="4">
                  <c:v>0.18987253093210105</c:v>
                </c:pt>
                <c:pt idx="5">
                  <c:v>0.15980299890969377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C0-43F6-BE73-34674E73F0AE}"/>
            </c:ext>
          </c:extLst>
        </c:ser>
        <c:ser>
          <c:idx val="2"/>
          <c:order val="2"/>
          <c:tx>
            <c:v>Branch C</c:v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Analysis!$G$72:$G$77</c:f>
              <c:strCache>
                <c:ptCount val="6"/>
                <c:pt idx="0">
                  <c:v>Health and beauty</c:v>
                </c:pt>
                <c:pt idx="1">
                  <c:v>Food and beverages</c:v>
                </c:pt>
                <c:pt idx="2">
                  <c:v>Home and lifestyle</c:v>
                </c:pt>
                <c:pt idx="3">
                  <c:v>Fashion accessories</c:v>
                </c:pt>
                <c:pt idx="4">
                  <c:v>Sports and travel</c:v>
                </c:pt>
                <c:pt idx="5">
                  <c:v>Electronic accessories</c:v>
                </c:pt>
              </c:strCache>
            </c:strRef>
          </c:cat>
          <c:val>
            <c:numRef>
              <c:f>Analysis!$J$72:$J$77</c:f>
              <c:numCache>
                <c:formatCode>0%</c:formatCode>
                <c:ptCount val="6"/>
                <c:pt idx="0">
                  <c:v>0.13585756028685042</c:v>
                </c:pt>
                <c:pt idx="1">
                  <c:v>0.19986331516516409</c:v>
                </c:pt>
                <c:pt idx="2">
                  <c:v>0.12454496392571454</c:v>
                </c:pt>
                <c:pt idx="3">
                  <c:v>0.20160354858263135</c:v>
                </c:pt>
                <c:pt idx="4">
                  <c:v>0.14915600405888996</c:v>
                </c:pt>
                <c:pt idx="5">
                  <c:v>0.18897460798074978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C0-43F6-BE73-34674E73F0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886210879"/>
        <c:axId val="886194559"/>
      </c:barChart>
      <c:catAx>
        <c:axId val="886210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6194559"/>
        <c:crosses val="autoZero"/>
        <c:auto val="1"/>
        <c:lblAlgn val="ctr"/>
        <c:lblOffset val="100"/>
        <c:noMultiLvlLbl val="0"/>
      </c:catAx>
      <c:valAx>
        <c:axId val="886194559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8862108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15875" cap="rnd" cmpd="sng" algn="ctr">
      <a:noFill/>
      <a:prstDash val="solid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 analysis.1.xlsx]Analysis!PivotTable11</c:name>
    <c:fmtId val="4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Average Transaction by Branch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</c:pivotFmt>
      <c:pivotFmt>
        <c:idx val="7"/>
        <c:spPr>
          <a:solidFill>
            <a:schemeClr val="accent4"/>
          </a:solidFill>
          <a:ln>
            <a:noFill/>
          </a:ln>
          <a:effectLst/>
        </c:spPr>
      </c:pivotFmt>
      <c:pivotFmt>
        <c:idx val="8"/>
        <c:spPr>
          <a:solidFill>
            <a:schemeClr val="accent6"/>
          </a:solidFill>
          <a:ln>
            <a:noFill/>
          </a:ln>
          <a:effectLst/>
        </c:spP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</c:pivotFmt>
      <c:pivotFmt>
        <c:idx val="16"/>
        <c:spPr>
          <a:solidFill>
            <a:schemeClr val="accent2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Analysis!$B$57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906-4846-BABC-A4F2385EEE9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906-4846-BABC-A4F2385EEE9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906-4846-BABC-A4F2385EEE94}"/>
              </c:ext>
            </c:extLst>
          </c:dPt>
          <c:dLbls>
            <c:numFmt formatCode="[$$-409]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Analysis!$A$58:$A$60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Analysis!$B$58:$B$60</c:f>
              <c:numCache>
                <c:formatCode>[$$-409]#,##0</c:formatCode>
                <c:ptCount val="3"/>
                <c:pt idx="0">
                  <c:v>28771.927058823538</c:v>
                </c:pt>
                <c:pt idx="1">
                  <c:v>29253.553463855435</c:v>
                </c:pt>
                <c:pt idx="2">
                  <c:v>29664.334298780512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906-4846-BABC-A4F2385EEE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1164217423"/>
        <c:axId val="1164225103"/>
      </c:barChart>
      <c:catAx>
        <c:axId val="1164217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4225103"/>
        <c:crosses val="autoZero"/>
        <c:auto val="1"/>
        <c:lblAlgn val="ctr"/>
        <c:lblOffset val="100"/>
        <c:noMultiLvlLbl val="0"/>
      </c:catAx>
      <c:valAx>
        <c:axId val="1164225103"/>
        <c:scaling>
          <c:orientation val="minMax"/>
        </c:scaling>
        <c:delete val="1"/>
        <c:axPos val="l"/>
        <c:numFmt formatCode="[$$-409]#,##0" sourceLinked="1"/>
        <c:majorTickMark val="none"/>
        <c:minorTickMark val="none"/>
        <c:tickLblPos val="nextTo"/>
        <c:crossAx val="1164217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15875" cap="rnd" cmpd="sng" algn="ctr">
      <a:noFill/>
      <a:prstDash val="solid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E479A3-E427-4EC0-BA93-4AC07473282C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5DDAAB-22BC-421A-AF97-D41CA8BCBE0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1235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770B9-F02B-C4A1-4DEC-F0AB7051E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507041-D2FF-01C6-5312-6D4F10FA5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AFBEC8-5BEB-9FF1-218C-2DC221FF1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48E2D-0DEC-B3A3-EBC1-37893D940C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DDAAB-22BC-421A-AF97-D41CA8BCBE0C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0922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849FD-606B-B4AB-007E-BE06F3F1C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7FBCEF-1376-50FB-38CA-C2E31B954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70CE16-9B2D-9456-800A-89D36A0A5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05A50-B8EA-BF89-2342-9FABDC3DD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DDAAB-22BC-421A-AF97-D41CA8BCBE0C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17154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DDAAB-22BC-421A-AF97-D41CA8BCBE0C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27488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DDAAB-22BC-421A-AF97-D41CA8BCBE0C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65706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27E82-FC64-26B8-069B-9E584B3E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D0B76E-097E-521F-8FBA-C66D2A0798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692A07-6388-3904-6161-8DD9F3A36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720F1-43E2-130A-EF30-1FFF96760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DDAAB-22BC-421A-AF97-D41CA8BCBE0C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143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58D3-207F-4503-963A-88D3AC298D64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13F1-60E3-4C0C-BF2C-7D2F8FA87B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9302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58D3-207F-4503-963A-88D3AC298D64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13F1-60E3-4C0C-BF2C-7D2F8FA87B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0081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58D3-207F-4503-963A-88D3AC298D64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13F1-60E3-4C0C-BF2C-7D2F8FA87B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70091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58D3-207F-4503-963A-88D3AC298D64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13F1-60E3-4C0C-BF2C-7D2F8FA87B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6642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58D3-207F-4503-963A-88D3AC298D64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13F1-60E3-4C0C-BF2C-7D2F8FA87B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690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58D3-207F-4503-963A-88D3AC298D64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13F1-60E3-4C0C-BF2C-7D2F8FA87B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73496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58D3-207F-4503-963A-88D3AC298D64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13F1-60E3-4C0C-BF2C-7D2F8FA87B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0636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58D3-207F-4503-963A-88D3AC298D64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13F1-60E3-4C0C-BF2C-7D2F8FA87B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1373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58D3-207F-4503-963A-88D3AC298D64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13F1-60E3-4C0C-BF2C-7D2F8FA87B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19307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58D3-207F-4503-963A-88D3AC298D64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13F1-60E3-4C0C-BF2C-7D2F8FA87B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4290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58D3-207F-4503-963A-88D3AC298D64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13F1-60E3-4C0C-BF2C-7D2F8FA87B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9751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58D3-207F-4503-963A-88D3AC298D64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13F1-60E3-4C0C-BF2C-7D2F8FA87B72}" type="slidenum">
              <a:rPr lang="en-ID" smtClean="0"/>
              <a:t>‹#›</a:t>
            </a:fld>
            <a:endParaRPr lang="en-ID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435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58D3-207F-4503-963A-88D3AC298D64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13F1-60E3-4C0C-BF2C-7D2F8FA87B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7693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58D3-207F-4503-963A-88D3AC298D64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13F1-60E3-4C0C-BF2C-7D2F8FA87B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68465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58D3-207F-4503-963A-88D3AC298D64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13F1-60E3-4C0C-BF2C-7D2F8FA87B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760155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58D3-207F-4503-963A-88D3AC298D64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13F1-60E3-4C0C-BF2C-7D2F8FA87B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643428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58D3-207F-4503-963A-88D3AC298D64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13F1-60E3-4C0C-BF2C-7D2F8FA87B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3769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E1758D3-207F-4503-963A-88D3AC298D64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78413F1-60E3-4C0C-BF2C-7D2F8FA87B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94837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datasets/faresashraf1001/supermarket-sale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xeljoshua/supermarket-dashboard.git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axeljoshua58@gmail.com" TargetMode="External"/><Relationship Id="rId11" Type="http://schemas.microsoft.com/office/2007/relationships/hdphoto" Target="../media/hdphoto4.wdp"/><Relationship Id="rId5" Type="http://schemas.openxmlformats.org/officeDocument/2006/relationships/hyperlink" Target="https://pro.fiverr.com/s/jjB8D9Z" TargetMode="External"/><Relationship Id="rId10" Type="http://schemas.openxmlformats.org/officeDocument/2006/relationships/image" Target="../media/image18.png"/><Relationship Id="rId4" Type="http://schemas.microsoft.com/office/2007/relationships/hdphoto" Target="../media/hdphoto2.wdp"/><Relationship Id="rId9" Type="http://schemas.openxmlformats.org/officeDocument/2006/relationships/hyperlink" Target="https://www.google.com/maps/place/Pontianak,+Kota+Pontianak,+Kalimantan+Barat/@-0.0287859,109.2850258,13z/data=!4m6!3m5!1s0x2e1d58f604b0799b:0x511ef9501fc9ffe3!8m2!3d-0.0263303!4d109.3425039!16zL20vMDVycjRn?entry=ttu&amp;g_ep=EgoyMDI2MDQyOS4wIKXMDSoASAFQAw%3D%3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A9668-B652-2C83-52F1-08685B6E3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413" y="2078150"/>
            <a:ext cx="5860687" cy="1828801"/>
          </a:xfrm>
        </p:spPr>
        <p:txBody>
          <a:bodyPr/>
          <a:lstStyle/>
          <a:p>
            <a:pPr algn="l"/>
            <a:r>
              <a:rPr lang="en-US" dirty="0"/>
              <a:t>Welcome to My Portfolio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47899B-5A95-FB03-2BFF-903C71FE9D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413" y="3906949"/>
            <a:ext cx="5860687" cy="859361"/>
          </a:xfrm>
        </p:spPr>
        <p:txBody>
          <a:bodyPr/>
          <a:lstStyle/>
          <a:p>
            <a:pPr algn="l"/>
            <a:r>
              <a:rPr lang="en-US" dirty="0"/>
              <a:t>Axel Joshua Bagaskara</a:t>
            </a:r>
            <a:endParaRPr lang="en-ID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7746D62-E839-D315-FE66-2EBEDE4367E5}"/>
              </a:ext>
            </a:extLst>
          </p:cNvPr>
          <p:cNvSpPr/>
          <p:nvPr/>
        </p:nvSpPr>
        <p:spPr>
          <a:xfrm>
            <a:off x="6732270" y="1245870"/>
            <a:ext cx="5177790" cy="4366260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9298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54A1D-C2F2-F3F2-9665-3B120E76E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84C2-51B5-E97C-5A7A-9E8B4FFDB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12420"/>
            <a:ext cx="10353762" cy="970450"/>
          </a:xfrm>
        </p:spPr>
        <p:txBody>
          <a:bodyPr>
            <a:normAutofit/>
          </a:bodyPr>
          <a:lstStyle/>
          <a:p>
            <a:r>
              <a:rPr lang="en-US" sz="3600" dirty="0"/>
              <a:t>Skills </a:t>
            </a:r>
            <a:endParaRPr lang="en-ID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379E3C-2AB5-4BDD-F8B7-2EF42AA505AD}"/>
              </a:ext>
            </a:extLst>
          </p:cNvPr>
          <p:cNvSpPr/>
          <p:nvPr/>
        </p:nvSpPr>
        <p:spPr>
          <a:xfrm>
            <a:off x="1372663" y="2806713"/>
            <a:ext cx="1188720" cy="116586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2686" t="-8078" r="-26261" b="-11114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C14648-B4F1-DEE8-DBC3-747E04C1A816}"/>
              </a:ext>
            </a:extLst>
          </p:cNvPr>
          <p:cNvSpPr/>
          <p:nvPr/>
        </p:nvSpPr>
        <p:spPr>
          <a:xfrm>
            <a:off x="2561383" y="2930307"/>
            <a:ext cx="1188720" cy="918672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57352B-B005-26A9-E71A-2D15EAD7F71D}"/>
              </a:ext>
            </a:extLst>
          </p:cNvPr>
          <p:cNvSpPr txBox="1"/>
          <p:nvPr/>
        </p:nvSpPr>
        <p:spPr>
          <a:xfrm>
            <a:off x="1372662" y="2313787"/>
            <a:ext cx="3380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Processing &amp; Visualization</a:t>
            </a:r>
            <a:endParaRPr lang="en-ID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ED4D1A-EB73-2EBB-DF17-2388B9DDD579}"/>
              </a:ext>
            </a:extLst>
          </p:cNvPr>
          <p:cNvSpPr/>
          <p:nvPr/>
        </p:nvSpPr>
        <p:spPr>
          <a:xfrm>
            <a:off x="7253179" y="2930307"/>
            <a:ext cx="1188720" cy="915486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2556" t="-28936" r="-30235" b="-3683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3BDB06-0105-BB20-6D9E-862FD3D04EE2}"/>
              </a:ext>
            </a:extLst>
          </p:cNvPr>
          <p:cNvSpPr txBox="1"/>
          <p:nvPr/>
        </p:nvSpPr>
        <p:spPr>
          <a:xfrm>
            <a:off x="1372662" y="3972573"/>
            <a:ext cx="39533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Using Microsoft Excel &amp; Google Sheet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Data Cleaning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Pivot Table &amp; Data Summarization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Dashboard &amp; Data Visualization</a:t>
            </a:r>
            <a:endParaRPr lang="en-ID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D3D64F-F439-9C8A-65CF-F7904D567DFE}"/>
              </a:ext>
            </a:extLst>
          </p:cNvPr>
          <p:cNvSpPr txBox="1"/>
          <p:nvPr/>
        </p:nvSpPr>
        <p:spPr>
          <a:xfrm>
            <a:off x="6866029" y="2313787"/>
            <a:ext cx="3380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Conversion </a:t>
            </a:r>
            <a:endParaRPr lang="en-ID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0EEE4B-22B2-9224-4164-90A475FAF2EE}"/>
              </a:ext>
            </a:extLst>
          </p:cNvPr>
          <p:cNvSpPr txBox="1"/>
          <p:nvPr/>
        </p:nvSpPr>
        <p:spPr>
          <a:xfrm>
            <a:off x="7052310" y="3972573"/>
            <a:ext cx="4766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Convert data (PDF/CSV) to formats 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</a:t>
            </a:r>
            <a:r>
              <a:rPr lang="en-ID" dirty="0"/>
              <a:t>Extraction </a:t>
            </a:r>
            <a:r>
              <a:rPr lang="en-US" dirty="0"/>
              <a:t>&amp; </a:t>
            </a:r>
            <a:r>
              <a:rPr lang="en-ID" dirty="0"/>
              <a:t>Reformatting </a:t>
            </a:r>
          </a:p>
        </p:txBody>
      </p:sp>
    </p:spTree>
    <p:extLst>
      <p:ext uri="{BB962C8B-B14F-4D97-AF65-F5344CB8AC3E}">
        <p14:creationId xmlns:p14="http://schemas.microsoft.com/office/powerpoint/2010/main" val="479158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83B34-9E6D-BF0C-21CB-2248B1F06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A42DC-0739-281E-982D-4069AC98A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12420"/>
            <a:ext cx="10353762" cy="970450"/>
          </a:xfrm>
        </p:spPr>
        <p:txBody>
          <a:bodyPr>
            <a:normAutofit/>
          </a:bodyPr>
          <a:lstStyle/>
          <a:p>
            <a:r>
              <a:rPr lang="en-US" sz="3600" dirty="0"/>
              <a:t>Case Project</a:t>
            </a:r>
            <a:endParaRPr lang="en-ID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05CFE6-6ECF-E0EA-B265-AF52E8432EC9}"/>
              </a:ext>
            </a:extLst>
          </p:cNvPr>
          <p:cNvSpPr txBox="1"/>
          <p:nvPr/>
        </p:nvSpPr>
        <p:spPr>
          <a:xfrm>
            <a:off x="5520690" y="1815194"/>
            <a:ext cx="5989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This dataset is based on individual transaction from a supermarket in Myanmar and includes data such as gender, invoice id, branch, city, customer type, product line, unit price, quantity, tax 5%.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CFB231-5A34-BC08-C526-B218C1342BB8}"/>
              </a:ext>
            </a:extLst>
          </p:cNvPr>
          <p:cNvSpPr/>
          <p:nvPr/>
        </p:nvSpPr>
        <p:spPr>
          <a:xfrm>
            <a:off x="681990" y="1815194"/>
            <a:ext cx="4324350" cy="320998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A0D02F-8B61-3317-11D9-3C0A227115C9}"/>
              </a:ext>
            </a:extLst>
          </p:cNvPr>
          <p:cNvSpPr txBox="1"/>
          <p:nvPr/>
        </p:nvSpPr>
        <p:spPr>
          <a:xfrm>
            <a:off x="5520690" y="3547847"/>
            <a:ext cx="59893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Scope of Problem: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Identify performance across product categories.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Analyze the effectiveness of the customer loyalty program (Members vs Non-Members).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Comparing transaction productivity in each branch.</a:t>
            </a:r>
          </a:p>
        </p:txBody>
      </p:sp>
      <p:sp>
        <p:nvSpPr>
          <p:cNvPr id="7" name="TextBox 6">
            <a:hlinkClick r:id="rId4"/>
            <a:extLst>
              <a:ext uri="{FF2B5EF4-FFF2-40B4-BE49-F238E27FC236}">
                <a16:creationId xmlns:a16="http://schemas.microsoft.com/office/drawing/2014/main" id="{1026CECA-74D3-DE08-955E-84F809B15704}"/>
              </a:ext>
            </a:extLst>
          </p:cNvPr>
          <p:cNvSpPr txBox="1"/>
          <p:nvPr/>
        </p:nvSpPr>
        <p:spPr>
          <a:xfrm>
            <a:off x="913795" y="5557499"/>
            <a:ext cx="23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u="sng" dirty="0"/>
              <a:t>Click the data source</a:t>
            </a:r>
          </a:p>
        </p:txBody>
      </p:sp>
    </p:spTree>
    <p:extLst>
      <p:ext uri="{BB962C8B-B14F-4D97-AF65-F5344CB8AC3E}">
        <p14:creationId xmlns:p14="http://schemas.microsoft.com/office/powerpoint/2010/main" val="1050139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D3FA1-DA65-A700-BE95-10F623EAE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12420"/>
            <a:ext cx="10353762" cy="970450"/>
          </a:xfrm>
        </p:spPr>
        <p:txBody>
          <a:bodyPr>
            <a:normAutofit/>
          </a:bodyPr>
          <a:lstStyle/>
          <a:p>
            <a:r>
              <a:rPr lang="en-ID" sz="3600" b="1" dirty="0">
                <a:effectLst/>
              </a:rPr>
              <a:t>Data Wrangling</a:t>
            </a:r>
            <a:r>
              <a:rPr lang="en-ID" sz="3600" dirty="0">
                <a:effectLst/>
              </a:rPr>
              <a:t> </a:t>
            </a:r>
            <a:endParaRPr lang="en-ID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3D89D9-9C83-36B6-48A5-6B8F39347B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6602" r="5942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3975"/>
          <a:stretch>
            <a:fillRect/>
          </a:stretch>
        </p:blipFill>
        <p:spPr>
          <a:xfrm>
            <a:off x="913795" y="1926451"/>
            <a:ext cx="4478867" cy="273251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901315B-0BA2-5957-9019-21636CC6F0D2}"/>
              </a:ext>
            </a:extLst>
          </p:cNvPr>
          <p:cNvSpPr/>
          <p:nvPr/>
        </p:nvSpPr>
        <p:spPr>
          <a:xfrm>
            <a:off x="6441446" y="1755001"/>
            <a:ext cx="5377174" cy="3088631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FA7D99F-9D95-0878-7218-709DAD35F9C2}"/>
              </a:ext>
            </a:extLst>
          </p:cNvPr>
          <p:cNvSpPr/>
          <p:nvPr/>
        </p:nvSpPr>
        <p:spPr>
          <a:xfrm>
            <a:off x="5978088" y="3320415"/>
            <a:ext cx="372099" cy="21717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F5A25E-4D22-0C6E-4990-25AEDF24F706}"/>
              </a:ext>
            </a:extLst>
          </p:cNvPr>
          <p:cNvSpPr txBox="1"/>
          <p:nvPr/>
        </p:nvSpPr>
        <p:spPr>
          <a:xfrm>
            <a:off x="464640" y="1398884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Before </a:t>
            </a:r>
            <a:endParaRPr lang="en-ID" dirty="0">
              <a:highlight>
                <a:srgbClr val="FF00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207FF0-6ED8-F8F9-0EC8-D00E13E6A695}"/>
              </a:ext>
            </a:extLst>
          </p:cNvPr>
          <p:cNvSpPr txBox="1"/>
          <p:nvPr/>
        </p:nvSpPr>
        <p:spPr>
          <a:xfrm>
            <a:off x="6441447" y="1398884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After</a:t>
            </a:r>
            <a:endParaRPr lang="en-ID" dirty="0">
              <a:highlight>
                <a:srgbClr val="00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541F2D-167B-E9D9-9942-7E51B7C718A2}"/>
              </a:ext>
            </a:extLst>
          </p:cNvPr>
          <p:cNvSpPr txBox="1"/>
          <p:nvPr/>
        </p:nvSpPr>
        <p:spPr>
          <a:xfrm>
            <a:off x="464640" y="5089785"/>
            <a:ext cx="77778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/>
              <a:t>Data Wrangling Steps: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600" dirty="0"/>
              <a:t>Fix typo numbers in the “Tax 5%” column with entering the formula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600" dirty="0"/>
              <a:t>Modify the number format of the “Unit Price” &amp; “Tax 5%” fields to currency format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600" dirty="0"/>
              <a:t>Create a “Sales” column to find the total sales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5CE4E-4218-478D-75E2-65C3215B2272}"/>
              </a:ext>
            </a:extLst>
          </p:cNvPr>
          <p:cNvSpPr/>
          <p:nvPr/>
        </p:nvSpPr>
        <p:spPr>
          <a:xfrm>
            <a:off x="464641" y="1755001"/>
            <a:ext cx="5377174" cy="308863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46555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26B832-3D9B-1A05-FA99-B4BCCD04CF72}"/>
              </a:ext>
            </a:extLst>
          </p:cNvPr>
          <p:cNvSpPr/>
          <p:nvPr/>
        </p:nvSpPr>
        <p:spPr>
          <a:xfrm>
            <a:off x="11416028" y="1926450"/>
            <a:ext cx="402591" cy="2917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8025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8CC6E-9AD1-A8BA-9874-BD2ACEA92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9644B-342A-975C-DD52-DDD7697A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12420"/>
            <a:ext cx="10353762" cy="970450"/>
          </a:xfrm>
        </p:spPr>
        <p:txBody>
          <a:bodyPr>
            <a:normAutofit/>
          </a:bodyPr>
          <a:lstStyle/>
          <a:p>
            <a:r>
              <a:rPr lang="en-ID" sz="3600" b="1" dirty="0">
                <a:effectLst/>
              </a:rPr>
              <a:t>Dashboard Overview</a:t>
            </a:r>
            <a:endParaRPr lang="en-ID" sz="3600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8E733C20-E808-F52E-CF71-05502B4C24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" t="537" r="1"/>
          <a:stretch>
            <a:fillRect/>
          </a:stretch>
        </p:blipFill>
        <p:spPr>
          <a:xfrm>
            <a:off x="0" y="1623059"/>
            <a:ext cx="12192000" cy="464058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3" name="TextBox 2">
            <a:hlinkClick r:id="rId4"/>
            <a:extLst>
              <a:ext uri="{FF2B5EF4-FFF2-40B4-BE49-F238E27FC236}">
                <a16:creationId xmlns:a16="http://schemas.microsoft.com/office/drawing/2014/main" id="{919D88E0-18DE-45A7-D974-8A9377E55D76}"/>
              </a:ext>
            </a:extLst>
          </p:cNvPr>
          <p:cNvSpPr txBox="1"/>
          <p:nvPr/>
        </p:nvSpPr>
        <p:spPr>
          <a:xfrm>
            <a:off x="4743462" y="6362357"/>
            <a:ext cx="2694428" cy="366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Supermarket Dashboard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3876717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CE01FB-D293-1C97-648B-39BA28F3D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29A8E8-2627-641B-CC34-83EC0AB2FC9D}"/>
              </a:ext>
            </a:extLst>
          </p:cNvPr>
          <p:cNvSpPr txBox="1"/>
          <p:nvPr/>
        </p:nvSpPr>
        <p:spPr>
          <a:xfrm>
            <a:off x="7600948" y="2258554"/>
            <a:ext cx="459105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600" b="1" dirty="0"/>
              <a:t>Electronic Accessories</a:t>
            </a:r>
            <a:r>
              <a:rPr lang="en-ID" sz="1600" dirty="0"/>
              <a:t> has impact for sales, indicating strong demand (Top Sales).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600" b="1" dirty="0"/>
              <a:t>The average transaction value</a:t>
            </a:r>
            <a:r>
              <a:rPr lang="en-ID" sz="1600" dirty="0"/>
              <a:t> across Branches does not differ significantly.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600" b="1" dirty="0"/>
              <a:t>Most product categories </a:t>
            </a:r>
            <a:r>
              <a:rPr lang="en-ID" sz="1600" dirty="0"/>
              <a:t>show consistent sales contribution across branches, </a:t>
            </a:r>
            <a:r>
              <a:rPr lang="en-ID" sz="1600" b="1" dirty="0"/>
              <a:t>except for Health and Beauty</a:t>
            </a:r>
            <a:r>
              <a:rPr lang="en-ID" sz="1600" dirty="0"/>
              <a:t>, which underperforms relative to others.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600" b="1" dirty="0"/>
              <a:t>All Branches </a:t>
            </a:r>
            <a:r>
              <a:rPr lang="en-ID" sz="1600" dirty="0"/>
              <a:t>have almost the same sales contribution,  indicating strong financial health.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600" b="1" dirty="0"/>
              <a:t>Non-Member</a:t>
            </a:r>
            <a:r>
              <a:rPr lang="en-ID" sz="1600" dirty="0"/>
              <a:t> have higher sales than </a:t>
            </a:r>
            <a:r>
              <a:rPr lang="en-ID" sz="1600" b="1" dirty="0"/>
              <a:t>Members</a:t>
            </a:r>
            <a:r>
              <a:rPr lang="en-ID" sz="1600" dirty="0"/>
              <a:t> in most branches.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912BB9-DAA5-FE53-5ACB-770FF785226D}"/>
              </a:ext>
            </a:extLst>
          </p:cNvPr>
          <p:cNvSpPr/>
          <p:nvPr/>
        </p:nvSpPr>
        <p:spPr>
          <a:xfrm>
            <a:off x="0" y="0"/>
            <a:ext cx="7380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7E325D6-8695-41EE-A8CD-C053BF5AF4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4959781"/>
              </p:ext>
            </p:extLst>
          </p:nvPr>
        </p:nvGraphicFramePr>
        <p:xfrm>
          <a:off x="3575685" y="4584156"/>
          <a:ext cx="3779999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6C615BD-54E3-40F8-990E-355D6BC55C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3298348"/>
              </p:ext>
            </p:extLst>
          </p:nvPr>
        </p:nvGraphicFramePr>
        <p:xfrm>
          <a:off x="23587" y="20830"/>
          <a:ext cx="7332825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90902F2-9443-428F-9F4B-A7934F85DE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1969594"/>
              </p:ext>
            </p:extLst>
          </p:nvPr>
        </p:nvGraphicFramePr>
        <p:xfrm>
          <a:off x="19769" y="4584156"/>
          <a:ext cx="35316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932CBAC-66AF-4BE2-BBD3-78F3896CE2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0863096"/>
              </p:ext>
            </p:extLst>
          </p:nvPr>
        </p:nvGraphicFramePr>
        <p:xfrm>
          <a:off x="3575685" y="2305169"/>
          <a:ext cx="37800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1F42194-A924-4AF5-8AA4-EE5A87CF43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8670451"/>
              </p:ext>
            </p:extLst>
          </p:nvPr>
        </p:nvGraphicFramePr>
        <p:xfrm>
          <a:off x="19769" y="2305169"/>
          <a:ext cx="35316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203247A5-A740-64D0-0CDC-3D530C61C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0948" y="390626"/>
            <a:ext cx="4366262" cy="970450"/>
          </a:xfrm>
        </p:spPr>
        <p:txBody>
          <a:bodyPr>
            <a:normAutofit fontScale="90000"/>
          </a:bodyPr>
          <a:lstStyle/>
          <a:p>
            <a:r>
              <a:rPr lang="en-ID" dirty="0">
                <a:effectLst/>
              </a:rPr>
              <a:t>Sales Insights Dashboard</a:t>
            </a:r>
            <a:endParaRPr lang="en-ID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D8A61C-3907-285D-BA8F-4EC3C4AD48FA}"/>
              </a:ext>
            </a:extLst>
          </p:cNvPr>
          <p:cNvSpPr/>
          <p:nvPr/>
        </p:nvSpPr>
        <p:spPr>
          <a:xfrm flipH="1">
            <a:off x="3680460" y="3063240"/>
            <a:ext cx="628651" cy="143761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37C576-09F6-D32E-DC31-7611F9577616}"/>
              </a:ext>
            </a:extLst>
          </p:cNvPr>
          <p:cNvSpPr txBox="1"/>
          <p:nvPr/>
        </p:nvSpPr>
        <p:spPr>
          <a:xfrm>
            <a:off x="6389370" y="937239"/>
            <a:ext cx="480060" cy="43707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Top sales</a:t>
            </a:r>
            <a:endParaRPr lang="en-ID" sz="1100" dirty="0"/>
          </a:p>
        </p:txBody>
      </p:sp>
    </p:spTree>
    <p:extLst>
      <p:ext uri="{BB962C8B-B14F-4D97-AF65-F5344CB8AC3E}">
        <p14:creationId xmlns:p14="http://schemas.microsoft.com/office/powerpoint/2010/main" val="783711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A6101-1295-E1A3-A058-9DE30388D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36916-3E3A-260F-D1B6-09D71E01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541" y="289560"/>
            <a:ext cx="5171557" cy="970450"/>
          </a:xfrm>
        </p:spPr>
        <p:txBody>
          <a:bodyPr>
            <a:normAutofit/>
          </a:bodyPr>
          <a:lstStyle/>
          <a:p>
            <a:r>
              <a:rPr lang="en-US" sz="3600" dirty="0"/>
              <a:t>Recommendation </a:t>
            </a:r>
            <a:endParaRPr lang="en-ID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A7D1B9-56CB-1035-64B8-BA058014CDB1}"/>
              </a:ext>
            </a:extLst>
          </p:cNvPr>
          <p:cNvSpPr txBox="1"/>
          <p:nvPr/>
        </p:nvSpPr>
        <p:spPr>
          <a:xfrm>
            <a:off x="6096000" y="1783348"/>
            <a:ext cx="58826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Increase sales volume and sales contribution of Health and Beauty product with bundle deals.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Branches A and B can increase average transaction value by implementing a segment-based upselling and bundling strategy, and adopt the best strategy from Branch C.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Offer discounts to first-time members to increase customer loyalty and average transaction value.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7BBC7A-0136-CD42-07BB-B3912D1B5697}"/>
              </a:ext>
            </a:extLst>
          </p:cNvPr>
          <p:cNvSpPr/>
          <p:nvPr/>
        </p:nvSpPr>
        <p:spPr>
          <a:xfrm>
            <a:off x="0" y="0"/>
            <a:ext cx="5497830" cy="6858000"/>
          </a:xfrm>
          <a:prstGeom prst="rect">
            <a:avLst/>
          </a:prstGeom>
          <a:blipFill dpi="0" rotWithShape="1">
            <a:blip r:embed="rId3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27922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BFC12-89F0-5C3B-CE92-B1AC4BE49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DB5FC-445F-C6DE-0F33-1ADBA6414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12420"/>
            <a:ext cx="10353762" cy="970450"/>
          </a:xfrm>
        </p:spPr>
        <p:txBody>
          <a:bodyPr>
            <a:normAutofit/>
          </a:bodyPr>
          <a:lstStyle/>
          <a:p>
            <a:r>
              <a:rPr lang="en-US" sz="3600" dirty="0"/>
              <a:t>Let’s Work Together</a:t>
            </a:r>
            <a:endParaRPr lang="en-ID" sz="3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449FD1-8871-92F5-F4CE-16DED19F7BFE}"/>
              </a:ext>
            </a:extLst>
          </p:cNvPr>
          <p:cNvSpPr/>
          <p:nvPr/>
        </p:nvSpPr>
        <p:spPr>
          <a:xfrm>
            <a:off x="1771651" y="3608621"/>
            <a:ext cx="903576" cy="844719"/>
          </a:xfrm>
          <a:prstGeom prst="rect">
            <a:avLst/>
          </a:pr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9431" b="-869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8D3C3DF4-7AB5-1495-01BF-B4DC20241DCA}"/>
              </a:ext>
            </a:extLst>
          </p:cNvPr>
          <p:cNvSpPr txBox="1"/>
          <p:nvPr/>
        </p:nvSpPr>
        <p:spPr>
          <a:xfrm>
            <a:off x="3554730" y="2501228"/>
            <a:ext cx="4080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Axel Joshua</a:t>
            </a:r>
            <a:endParaRPr lang="en-ID" sz="2000" dirty="0"/>
          </a:p>
        </p:txBody>
      </p:sp>
      <p:sp>
        <p:nvSpPr>
          <p:cNvPr id="12" name="TextBox 11">
            <a:hlinkClick r:id="rId6"/>
            <a:extLst>
              <a:ext uri="{FF2B5EF4-FFF2-40B4-BE49-F238E27FC236}">
                <a16:creationId xmlns:a16="http://schemas.microsoft.com/office/drawing/2014/main" id="{83C0E996-365A-5656-C327-8018D61D32BA}"/>
              </a:ext>
            </a:extLst>
          </p:cNvPr>
          <p:cNvSpPr txBox="1"/>
          <p:nvPr/>
        </p:nvSpPr>
        <p:spPr>
          <a:xfrm>
            <a:off x="3554730" y="3830925"/>
            <a:ext cx="3566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axeljoshua58@gmail.com</a:t>
            </a:r>
            <a:endParaRPr lang="en-ID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19B15E-F027-9452-6D1B-4D7D7C595462}"/>
              </a:ext>
            </a:extLst>
          </p:cNvPr>
          <p:cNvSpPr/>
          <p:nvPr/>
        </p:nvSpPr>
        <p:spPr>
          <a:xfrm>
            <a:off x="1771651" y="4938318"/>
            <a:ext cx="903576" cy="844719"/>
          </a:xfrm>
          <a:prstGeom prst="rect">
            <a:avLst/>
          </a:prstGeom>
          <a:blipFill dpi="0"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" name="TextBox 7">
            <a:hlinkClick r:id="rId9"/>
            <a:extLst>
              <a:ext uri="{FF2B5EF4-FFF2-40B4-BE49-F238E27FC236}">
                <a16:creationId xmlns:a16="http://schemas.microsoft.com/office/drawing/2014/main" id="{A5554F58-89B8-5AA3-F4DB-E9F2C3ADF6FE}"/>
              </a:ext>
            </a:extLst>
          </p:cNvPr>
          <p:cNvSpPr txBox="1"/>
          <p:nvPr/>
        </p:nvSpPr>
        <p:spPr>
          <a:xfrm>
            <a:off x="3554730" y="5160622"/>
            <a:ext cx="3566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Pontianak, West Borneo</a:t>
            </a:r>
            <a:endParaRPr lang="en-ID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B0B193-8BD5-B785-D57B-6483BF98091E}"/>
              </a:ext>
            </a:extLst>
          </p:cNvPr>
          <p:cNvSpPr/>
          <p:nvPr/>
        </p:nvSpPr>
        <p:spPr>
          <a:xfrm>
            <a:off x="1769401" y="2278924"/>
            <a:ext cx="903576" cy="844719"/>
          </a:xfrm>
          <a:prstGeom prst="rect">
            <a:avLst/>
          </a:prstGeom>
          <a:blipFill dpi="0" rotWithShape="1"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629640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3085</TotalTime>
  <Words>353</Words>
  <Application>Microsoft Office PowerPoint</Application>
  <PresentationFormat>Widescreen</PresentationFormat>
  <Paragraphs>52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Calisto MT</vt:lpstr>
      <vt:lpstr>Wingdings 2</vt:lpstr>
      <vt:lpstr>Slate</vt:lpstr>
      <vt:lpstr>Welcome to My Portfolio</vt:lpstr>
      <vt:lpstr>Skills </vt:lpstr>
      <vt:lpstr>Case Project</vt:lpstr>
      <vt:lpstr>Data Wrangling </vt:lpstr>
      <vt:lpstr>Dashboard Overview</vt:lpstr>
      <vt:lpstr>Sales Insights Dashboard</vt:lpstr>
      <vt:lpstr>Recommendation </vt:lpstr>
      <vt:lpstr>Let’s Work Together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Axel Joshua</dc:creator>
  <cp:lastModifiedBy>Axel Joshua</cp:lastModifiedBy>
  <cp:revision>20</cp:revision>
  <dcterms:created xsi:type="dcterms:W3CDTF">2026-04-23T15:06:59Z</dcterms:created>
  <dcterms:modified xsi:type="dcterms:W3CDTF">2026-05-04T13:45:07Z</dcterms:modified>
</cp:coreProperties>
</file>